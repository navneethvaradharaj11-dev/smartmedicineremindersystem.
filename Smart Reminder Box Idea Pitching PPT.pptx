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62" r:id="rId7"/>
    <p:sldId id="258" r:id="rId8"/>
    <p:sldId id="259" r:id="rId9"/>
    <p:sldId id="260" r:id="rId10"/>
    <p:sldId id="261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EFDA94-0B20-E651-CF6D-EC30A1A4C9EE}" v="99" dt="2026-04-07T09:01:58.629"/>
    <p1510:client id="{1A86BF2C-1C68-647E-7102-2419297D4B40}" v="18" dt="2026-04-07T16:01:20.282"/>
    <p1510:client id="{4DFE8789-CAAD-9958-0C8B-315CA0AD89CF}" v="477" dt="2026-04-07T18:03:40.474"/>
    <p1510:client id="{A2267F40-A5AD-92E1-0735-9932C3F0B67E}" v="7" dt="2026-04-07T08:53:19.1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CAE0-6B02-416C-97FA-183907EAEAF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7C96-D3DC-49B3-B343-A8665A40B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6489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CAE0-6B02-416C-97FA-183907EAEAF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7C96-D3DC-49B3-B343-A8665A40B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409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CAE0-6B02-416C-97FA-183907EAEAF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7C96-D3DC-49B3-B343-A8665A40B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138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CAE0-6B02-416C-97FA-183907EAEAF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7C96-D3DC-49B3-B343-A8665A40B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8073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CAE0-6B02-416C-97FA-183907EAEAF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7C96-D3DC-49B3-B343-A8665A40B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717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CAE0-6B02-416C-97FA-183907EAEAF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7C96-D3DC-49B3-B343-A8665A40B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9630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CAE0-6B02-416C-97FA-183907EAEAF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7C96-D3DC-49B3-B343-A8665A40B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341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CAE0-6B02-416C-97FA-183907EAEAF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7C96-D3DC-49B3-B343-A8665A40B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191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CAE0-6B02-416C-97FA-183907EAEAF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7C96-D3DC-49B3-B343-A8665A40B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898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CAE0-6B02-416C-97FA-183907EAEAF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7C96-D3DC-49B3-B343-A8665A40B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842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CAE0-6B02-416C-97FA-183907EAEAF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7C96-D3DC-49B3-B343-A8665A40BF99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12261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CAE0-6B02-416C-97FA-183907EAEAF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7C96-D3DC-49B3-B343-A8665A40B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4336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CAE0-6B02-416C-97FA-183907EAEAF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7C96-D3DC-49B3-B343-A8665A40BF99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03782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CAE0-6B02-416C-97FA-183907EAEAF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7C96-D3DC-49B3-B343-A8665A40B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1639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CAE0-6B02-416C-97FA-183907EAEAF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7C96-D3DC-49B3-B343-A8665A40B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9475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CAE0-6B02-416C-97FA-183907EAEAF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7C96-D3DC-49B3-B343-A8665A40B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619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ACCAE0-6B02-416C-97FA-183907EAEAF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1017C96-D3DC-49B3-B343-A8665A40B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207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teraction-design.org/literature/topics/empathiz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teraction-design.org/literature/topics/empathiz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5141F-56F8-64FB-1B8F-785061130E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8467" y="512307"/>
            <a:ext cx="6729166" cy="869788"/>
          </a:xfrm>
        </p:spPr>
        <p:txBody>
          <a:bodyPr>
            <a:normAutofit/>
          </a:bodyPr>
          <a:lstStyle/>
          <a:p>
            <a:r>
              <a:rPr lang="en-IN" sz="4800" dirty="0">
                <a:solidFill>
                  <a:schemeClr val="accent2">
                    <a:lumMod val="75000"/>
                  </a:schemeClr>
                </a:solidFill>
                <a:latin typeface="Bell MT" panose="02020503060305020303" pitchFamily="18" charset="0"/>
              </a:rPr>
              <a:t>Project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13D6AC-3D53-D730-CA97-13FF01FF77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4522" y="1882597"/>
            <a:ext cx="8038621" cy="3859835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>
                <a:solidFill>
                  <a:schemeClr val="tx1"/>
                </a:solidFill>
              </a:rPr>
              <a:t>Title: Smart Medicine Remainder Box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Team Members:</a:t>
            </a:r>
          </a:p>
          <a:p>
            <a:pPr marL="914400" lvl="1" indent="-457200" algn="l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tx1"/>
                </a:solidFill>
              </a:rPr>
              <a:t>Muthu </a:t>
            </a:r>
            <a:r>
              <a:rPr lang="en-US" sz="1800" b="1" dirty="0" err="1">
                <a:solidFill>
                  <a:schemeClr val="tx1"/>
                </a:solidFill>
              </a:rPr>
              <a:t>shrri</a:t>
            </a:r>
            <a:r>
              <a:rPr lang="en-US" sz="1800" b="1" dirty="0">
                <a:solidFill>
                  <a:schemeClr val="tx1"/>
                </a:solidFill>
              </a:rPr>
              <a:t> AG 25BIT054</a:t>
            </a:r>
          </a:p>
          <a:p>
            <a:pPr marL="914400" lvl="1" indent="-457200" algn="l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tx1"/>
                </a:solidFill>
              </a:rPr>
              <a:t>Nalini J 25BIT055</a:t>
            </a:r>
          </a:p>
          <a:p>
            <a:pPr marL="914400" lvl="1" indent="-457200" algn="l">
              <a:buFont typeface="Wingdings" panose="05000000000000000000" pitchFamily="2" charset="2"/>
              <a:buChar char="Ø"/>
            </a:pPr>
            <a:r>
              <a:rPr lang="en-US" sz="1800" b="1" dirty="0" err="1">
                <a:solidFill>
                  <a:schemeClr val="tx1"/>
                </a:solidFill>
              </a:rPr>
              <a:t>Navadara</a:t>
            </a:r>
            <a:r>
              <a:rPr lang="en-US" sz="1800" b="1" dirty="0">
                <a:solidFill>
                  <a:schemeClr val="tx1"/>
                </a:solidFill>
              </a:rPr>
              <a:t> PT 25BIT056</a:t>
            </a:r>
          </a:p>
          <a:p>
            <a:pPr marL="914400" lvl="1" indent="-457200" algn="l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tx1"/>
                </a:solidFill>
              </a:rPr>
              <a:t>Navneeth V 25BIT057</a:t>
            </a:r>
          </a:p>
          <a:p>
            <a:pPr marL="914400" lvl="1" indent="-457200" algn="l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tx1"/>
                </a:solidFill>
              </a:rPr>
              <a:t>Nila D 25BIT058</a:t>
            </a:r>
          </a:p>
          <a:p>
            <a:pPr marL="914400" lvl="1" indent="-457200" algn="l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tx1"/>
                </a:solidFill>
              </a:rPr>
              <a:t>Nishanth D 25BIT059</a:t>
            </a:r>
            <a:endParaRPr lang="en-US" b="1" dirty="0">
              <a:solidFill>
                <a:schemeClr val="tx1"/>
              </a:solidFill>
            </a:endParaRPr>
          </a:p>
          <a:p>
            <a:pPr algn="l"/>
            <a:endParaRPr lang="en-US" sz="2000" b="1" dirty="0">
              <a:solidFill>
                <a:schemeClr val="tx1"/>
              </a:solidFill>
            </a:endParaRPr>
          </a:p>
          <a:p>
            <a:pPr algn="l"/>
            <a:endParaRPr 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950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B2A2E-5F4B-9C6A-9A79-06B512B5B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592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Bell MT" panose="02020503060305020303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Empathize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Bell MT" panose="02020503060305020303" pitchFamily="18" charset="0"/>
              </a:rPr>
              <a:t>:</a:t>
            </a:r>
            <a:endParaRPr lang="en-IN" sz="3600" b="1" dirty="0">
              <a:solidFill>
                <a:schemeClr val="accent2">
                  <a:lumMod val="75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9B092-C79C-59F4-7597-9DCE3883A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7592" y="1111046"/>
            <a:ext cx="7397496" cy="538182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Target Users:</a:t>
            </a:r>
          </a:p>
          <a:p>
            <a:r>
              <a:rPr lang="en-US" dirty="0"/>
              <a:t>Elderly people (60+) </a:t>
            </a:r>
          </a:p>
          <a:p>
            <a:r>
              <a:rPr lang="en-US" dirty="0"/>
              <a:t>Patients with regular medication </a:t>
            </a:r>
          </a:p>
          <a:p>
            <a:r>
              <a:rPr lang="en-US" dirty="0"/>
              <a:t>Caregivers / family members</a:t>
            </a:r>
          </a:p>
          <a:p>
            <a:pPr marL="0" indent="0">
              <a:buNone/>
            </a:pPr>
            <a:r>
              <a:rPr lang="en-US" b="1" dirty="0"/>
              <a:t>User Problems:</a:t>
            </a:r>
          </a:p>
          <a:p>
            <a:r>
              <a:rPr lang="en-US" dirty="0"/>
              <a:t>Forget to take medicines on time </a:t>
            </a:r>
          </a:p>
          <a:p>
            <a:r>
              <a:rPr lang="en-US" dirty="0"/>
              <a:t>Confusion with multiple medicines </a:t>
            </a:r>
          </a:p>
          <a:p>
            <a:r>
              <a:rPr lang="en-US" dirty="0"/>
              <a:t>No tracking system </a:t>
            </a:r>
          </a:p>
          <a:p>
            <a:r>
              <a:rPr lang="en-US" dirty="0"/>
              <a:t>Caregivers don’t know patient status </a:t>
            </a:r>
          </a:p>
          <a:p>
            <a:r>
              <a:rPr lang="en-US" dirty="0"/>
              <a:t>Missed doses cause serious health risks</a:t>
            </a:r>
          </a:p>
          <a:p>
            <a:pPr marL="0" indent="0">
              <a:buNone/>
            </a:pPr>
            <a:r>
              <a:rPr lang="en-US" b="1" dirty="0"/>
              <a:t>User Needs:</a:t>
            </a:r>
          </a:p>
          <a:p>
            <a:r>
              <a:rPr lang="en-US" b="1" dirty="0"/>
              <a:t>User Needs</a:t>
            </a:r>
          </a:p>
          <a:p>
            <a:r>
              <a:rPr lang="en-US" dirty="0"/>
              <a:t>Easy-to-use system </a:t>
            </a:r>
          </a:p>
          <a:p>
            <a:r>
              <a:rPr lang="en-US" dirty="0"/>
              <a:t>Reliable reminder </a:t>
            </a:r>
          </a:p>
          <a:p>
            <a:r>
              <a:rPr lang="en-US" dirty="0"/>
              <a:t>Confirmation mechanism </a:t>
            </a:r>
          </a:p>
          <a:p>
            <a:r>
              <a:rPr lang="en-US" dirty="0"/>
              <a:t>Caregiver monitoring </a:t>
            </a:r>
          </a:p>
          <a:p>
            <a:r>
              <a:rPr lang="en-US" dirty="0"/>
              <a:t>Affordable solution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Courier New" charset="2"/>
              <a:buChar char="o"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buFont typeface="Courier New" charset="2"/>
              <a:buChar char="o"/>
            </a:pP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9617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B9871-EF9F-59ED-139C-5E803A337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356938" cy="752856"/>
          </a:xfrm>
        </p:spPr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Bell MT" panose="02020503060305020303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Empathize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Bell MT" panose="02020503060305020303" pitchFamily="18" charset="0"/>
              </a:rPr>
              <a:t>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604E7-38D7-F422-5CA8-9E1DFF806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806" y="1575373"/>
            <a:ext cx="8596668" cy="388077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Observations:</a:t>
            </a:r>
          </a:p>
          <a:p>
            <a:r>
              <a:rPr lang="en-US" dirty="0"/>
              <a:t>Users rely on memory or paper notes </a:t>
            </a:r>
          </a:p>
          <a:p>
            <a:r>
              <a:rPr lang="en-US" dirty="0"/>
              <a:t>Ignore or forget alarms </a:t>
            </a:r>
          </a:p>
          <a:p>
            <a:r>
              <a:rPr lang="en-US" dirty="0"/>
              <a:t>Sometimes open box but forget to take medicine </a:t>
            </a:r>
          </a:p>
          <a:p>
            <a:r>
              <a:rPr lang="en-US" dirty="0"/>
              <a:t>Need simple system (not complex tech) </a:t>
            </a:r>
          </a:p>
          <a:p>
            <a:pPr marL="0" indent="0">
              <a:buNone/>
            </a:pPr>
            <a:r>
              <a:rPr lang="en-US" b="1" dirty="0"/>
              <a:t>User Feelings:</a:t>
            </a:r>
          </a:p>
          <a:p>
            <a:r>
              <a:rPr lang="en-US" dirty="0"/>
              <a:t>Anxiety about health </a:t>
            </a:r>
          </a:p>
          <a:p>
            <a:r>
              <a:rPr lang="en-US" dirty="0"/>
              <a:t>Fear of missing medicine </a:t>
            </a:r>
          </a:p>
          <a:p>
            <a:r>
              <a:rPr lang="en-US" dirty="0"/>
              <a:t>Dependence on others </a:t>
            </a:r>
          </a:p>
          <a:p>
            <a:r>
              <a:rPr lang="en-US" dirty="0"/>
              <a:t>Lack of confidence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4207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85929-CC8A-B549-9E8B-5C117D33A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chemeClr val="accent2">
                    <a:lumMod val="75000"/>
                  </a:schemeClr>
                </a:solidFill>
                <a:effectLst/>
                <a:latin typeface="Bell MT" panose="02020503060305020303" pitchFamily="18" charset="0"/>
              </a:rPr>
              <a:t>Define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Bell MT" panose="02020503060305020303" pitchFamily="18" charset="0"/>
              </a:rPr>
              <a:t>:</a:t>
            </a:r>
            <a:endParaRPr lang="en-IN" dirty="0">
              <a:solidFill>
                <a:schemeClr val="accent2">
                  <a:lumMod val="75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6DD1A-2C79-CCAD-A30A-2D96BAFB3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347" y="2814888"/>
            <a:ext cx="8725148" cy="51138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Elderly patients often struggle to </a:t>
            </a:r>
            <a:r>
              <a:rPr lang="en-US" b="1" dirty="0"/>
              <a:t>remember and manage their daily medication schedule</a:t>
            </a:r>
            <a:r>
              <a:rPr lang="en-US" dirty="0"/>
              <a:t> due to factors like memory decline, complex prescriptions, and lack of monitoring systems.</a:t>
            </a:r>
          </a:p>
          <a:p>
            <a:pPr marL="0" indent="0">
              <a:buNone/>
            </a:pPr>
            <a:r>
              <a:rPr lang="en-US" dirty="0"/>
              <a:t>As a result:</a:t>
            </a:r>
          </a:p>
          <a:p>
            <a:r>
              <a:rPr lang="en-US" dirty="0"/>
              <a:t>Medicines may be </a:t>
            </a:r>
            <a:r>
              <a:rPr lang="en-US" b="1" dirty="0"/>
              <a:t>missed, delayed, or taken incorrectly</a:t>
            </a:r>
            <a:r>
              <a:rPr lang="en-US" dirty="0"/>
              <a:t> </a:t>
            </a:r>
          </a:p>
          <a:p>
            <a:r>
              <a:rPr lang="en-US" dirty="0"/>
              <a:t>There is </a:t>
            </a:r>
            <a:r>
              <a:rPr lang="en-US" b="1" dirty="0"/>
              <a:t>no confirmation</a:t>
            </a:r>
            <a:r>
              <a:rPr lang="en-US" dirty="0"/>
              <a:t> whether the medicine was taken </a:t>
            </a:r>
          </a:p>
          <a:p>
            <a:r>
              <a:rPr lang="en-US" dirty="0"/>
              <a:t>Caregivers are </a:t>
            </a:r>
            <a:r>
              <a:rPr lang="en-US" b="1" dirty="0"/>
              <a:t>unable to track adherence</a:t>
            </a:r>
            <a:endParaRPr lang="en-US" dirty="0"/>
          </a:p>
          <a:p>
            <a:pPr marL="0" indent="0" algn="ctr">
              <a:buNone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F55F09-F762-CBB0-8203-67BE7071E389}"/>
              </a:ext>
            </a:extLst>
          </p:cNvPr>
          <p:cNvSpPr txBox="1"/>
          <p:nvPr/>
        </p:nvSpPr>
        <p:spPr>
          <a:xfrm>
            <a:off x="683347" y="1307593"/>
            <a:ext cx="8716684" cy="21698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1000"/>
              </a:spcBef>
            </a:pPr>
            <a:r>
              <a:rPr lang="en-US" sz="2000" b="1" dirty="0">
                <a:solidFill>
                  <a:srgbClr val="404040"/>
                </a:solidFill>
              </a:rPr>
              <a:t>Problem Statement:</a:t>
            </a:r>
            <a:endParaRPr lang="en-US" sz="2000" dirty="0"/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Elderly patients face difficulty in remembering and managing their daily medicine intake, which may lead to missed doses and health complications</a:t>
            </a:r>
            <a:r>
              <a:rPr lang="en-US" dirty="0"/>
              <a:t>.</a:t>
            </a:r>
          </a:p>
          <a:p>
            <a:pPr>
              <a:spcBef>
                <a:spcPts val="1000"/>
              </a:spcBef>
            </a:pPr>
            <a:endParaRPr lang="en-US" dirty="0"/>
          </a:p>
          <a:p>
            <a:pPr>
              <a:spcBef>
                <a:spcPts val="1000"/>
              </a:spcBef>
            </a:pPr>
            <a:endParaRPr lang="en-US" dirty="0"/>
          </a:p>
          <a:p>
            <a:pPr algn="l"/>
            <a:endParaRPr lang="en-US" dirty="0"/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43BB5C86-DCB5-0453-A8B0-AE7B02E38648}"/>
              </a:ext>
            </a:extLst>
          </p:cNvPr>
          <p:cNvSpPr/>
          <p:nvPr/>
        </p:nvSpPr>
        <p:spPr>
          <a:xfrm>
            <a:off x="7708392" y="3858768"/>
            <a:ext cx="4315968" cy="2783173"/>
          </a:xfrm>
          <a:prstGeom prst="snip1Rect">
            <a:avLst>
              <a:gd name="adj" fmla="val 28905"/>
            </a:avLst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Impact of the Problem:</a:t>
            </a:r>
          </a:p>
          <a:p>
            <a:endParaRPr lang="en-US" b="1" dirty="0"/>
          </a:p>
          <a:p>
            <a:r>
              <a:rPr lang="en-US" dirty="0"/>
              <a:t>Increased risk of </a:t>
            </a:r>
            <a:r>
              <a:rPr lang="en-US" b="1" dirty="0"/>
              <a:t>health complications</a:t>
            </a:r>
            <a:r>
              <a:rPr lang="en-US" dirty="0"/>
              <a:t> </a:t>
            </a:r>
          </a:p>
          <a:p>
            <a:r>
              <a:rPr lang="en-US" dirty="0"/>
              <a:t>Worsening of existing medical conditions </a:t>
            </a:r>
          </a:p>
          <a:p>
            <a:r>
              <a:rPr lang="en-US" dirty="0"/>
              <a:t>Reduced effectiveness of treatment </a:t>
            </a:r>
          </a:p>
          <a:p>
            <a:r>
              <a:rPr lang="en-US" dirty="0"/>
              <a:t>Increased dependency on others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4105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FCE31-FC11-849D-A528-2DE52E6AC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91312"/>
            <a:ext cx="8596668" cy="1320800"/>
          </a:xfrm>
        </p:spPr>
        <p:txBody>
          <a:bodyPr/>
          <a:lstStyle/>
          <a:p>
            <a:r>
              <a:rPr lang="en-US" b="1" i="0" dirty="0">
                <a:solidFill>
                  <a:schemeClr val="accent2">
                    <a:lumMod val="75000"/>
                  </a:schemeClr>
                </a:solidFill>
                <a:effectLst/>
                <a:latin typeface="Bell MT" panose="02020503060305020303" pitchFamily="18" charset="0"/>
              </a:rPr>
              <a:t>Ideate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Bell MT" panose="02020503060305020303" pitchFamily="18" charset="0"/>
              </a:rPr>
              <a:t>:</a:t>
            </a:r>
            <a:endParaRPr lang="en-IN" dirty="0">
              <a:solidFill>
                <a:schemeClr val="accent2">
                  <a:lumMod val="75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F7431-3440-20BD-5C81-36D88A2ED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84734"/>
            <a:ext cx="8596668" cy="50999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Elderly patients face difficulty in remembering and managing their daily medicine intake, which may lead to missed doses and health complications.</a:t>
            </a:r>
          </a:p>
          <a:p>
            <a:pPr marL="0" indent="0">
              <a:buNone/>
            </a:pPr>
            <a:r>
              <a:rPr lang="en-IN" b="1" dirty="0"/>
              <a:t>Solution:</a:t>
            </a:r>
          </a:p>
          <a:p>
            <a:r>
              <a:rPr lang="en-IN" dirty="0"/>
              <a:t>Low-cost smart medicine reminder system using Arduino </a:t>
            </a:r>
          </a:p>
          <a:p>
            <a:r>
              <a:rPr lang="en-IN" dirty="0"/>
              <a:t>Time-based alerts using RTC module </a:t>
            </a:r>
          </a:p>
          <a:p>
            <a:r>
              <a:rPr lang="en-IN" dirty="0"/>
              <a:t>LED and buzzer notification system </a:t>
            </a:r>
          </a:p>
          <a:p>
            <a:r>
              <a:rPr lang="en-IN" dirty="0"/>
              <a:t>Manual confirmation using push button </a:t>
            </a:r>
          </a:p>
          <a:p>
            <a:r>
              <a:rPr lang="en-IN" dirty="0"/>
              <a:t>Medicine box opening detection using limit switch </a:t>
            </a:r>
          </a:p>
          <a:p>
            <a:r>
              <a:rPr lang="en-IN" dirty="0"/>
              <a:t>Bluetooth communication for caregiver updates </a:t>
            </a:r>
          </a:p>
          <a:p>
            <a:r>
              <a:rPr lang="en-IN" dirty="0"/>
              <a:t>Medicine count tracking and missed dose alert</a:t>
            </a:r>
          </a:p>
          <a:p>
            <a:pPr marL="0" indent="0">
              <a:buNone/>
            </a:pPr>
            <a:r>
              <a:rPr lang="en-IN" dirty="0"/>
              <a:t>   	</a:t>
            </a:r>
            <a:r>
              <a:rPr lang="en-US" dirty="0"/>
              <a:t>“Our goal is to design a system that helps elderly people take medicines on time while also allowing caregivers to monitor their adherence in a simple and reliable way.”</a:t>
            </a: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196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C91FC-6C1B-0B20-D1B8-4B99D5E75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400231" cy="1320800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Bell MT" panose="02020503060305020303" pitchFamily="18" charset="0"/>
              </a:rPr>
              <a:t>Prototype: </a:t>
            </a:r>
            <a:endParaRPr lang="en-IN" dirty="0">
              <a:solidFill>
                <a:schemeClr val="accent1">
                  <a:lumMod val="76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9C90D-0EAE-2128-E54A-DE29D6FF7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985" y="1481328"/>
            <a:ext cx="8944894" cy="489254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Components Used:</a:t>
            </a:r>
          </a:p>
          <a:p>
            <a:r>
              <a:rPr lang="en-IN" dirty="0"/>
              <a:t>Arduino Uno </a:t>
            </a:r>
          </a:p>
          <a:p>
            <a:r>
              <a:rPr lang="en-IN" dirty="0"/>
              <a:t>RTC Module </a:t>
            </a:r>
          </a:p>
          <a:p>
            <a:r>
              <a:rPr lang="en-IN" dirty="0"/>
              <a:t>Bluetooth Module </a:t>
            </a:r>
          </a:p>
          <a:p>
            <a:r>
              <a:rPr lang="en-IN" dirty="0"/>
              <a:t>LEDs </a:t>
            </a:r>
          </a:p>
          <a:p>
            <a:r>
              <a:rPr lang="en-IN" dirty="0"/>
              <a:t>Buzzer </a:t>
            </a:r>
          </a:p>
          <a:p>
            <a:r>
              <a:rPr lang="en-IN" dirty="0"/>
              <a:t>Push Buttons </a:t>
            </a:r>
          </a:p>
          <a:p>
            <a:r>
              <a:rPr lang="en-IN" dirty="0"/>
              <a:t>Limit Switch </a:t>
            </a:r>
          </a:p>
          <a:p>
            <a:r>
              <a:rPr lang="en-IN" dirty="0"/>
              <a:t>Breadboard &amp; wires</a:t>
            </a:r>
          </a:p>
          <a:p>
            <a:pPr marL="0" indent="0">
              <a:buNone/>
            </a:pPr>
            <a:r>
              <a:rPr lang="en-IN" b="1" dirty="0"/>
              <a:t>System Architecture:</a:t>
            </a:r>
          </a:p>
          <a:p>
            <a:r>
              <a:rPr lang="en-IN" dirty="0"/>
              <a:t>Input: Button, Limit Switch </a:t>
            </a:r>
          </a:p>
          <a:p>
            <a:r>
              <a:rPr lang="en-IN" dirty="0"/>
              <a:t>Processing: Arduino </a:t>
            </a:r>
          </a:p>
          <a:p>
            <a:r>
              <a:rPr lang="en-IN" dirty="0"/>
              <a:t>Output: LED, Buzzer, Bluetooth</a:t>
            </a:r>
          </a:p>
          <a:p>
            <a:endParaRPr lang="en-IN" dirty="0"/>
          </a:p>
          <a:p>
            <a:pPr marL="0" indent="0">
              <a:buNone/>
            </a:pP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2087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04B5E-FF2F-0D8E-9AAF-E4DBE2CA2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4045C-784B-5ACD-409A-959FFB144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400231" cy="1320800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Bell MT" panose="02020503060305020303" pitchFamily="18" charset="0"/>
              </a:rPr>
              <a:t>Prototype: </a:t>
            </a:r>
            <a:endParaRPr lang="en-IN" dirty="0">
              <a:solidFill>
                <a:schemeClr val="accent1">
                  <a:lumMod val="76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D4E40-304C-8F51-5CD9-F957E97AD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116" y="1495571"/>
            <a:ext cx="8596668" cy="469819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Working Flow:</a:t>
            </a:r>
          </a:p>
          <a:p>
            <a:r>
              <a:rPr lang="en-US" dirty="0"/>
              <a:t>RTC tracks time </a:t>
            </a:r>
          </a:p>
          <a:p>
            <a:r>
              <a:rPr lang="en-US" dirty="0"/>
              <a:t>At set time → Alert triggered </a:t>
            </a:r>
          </a:p>
          <a:p>
            <a:r>
              <a:rPr lang="en-US" dirty="0"/>
              <a:t>LED + Buzzer ON </a:t>
            </a:r>
          </a:p>
          <a:p>
            <a:r>
              <a:rPr lang="en-US" dirty="0"/>
              <a:t>User presses button → Confirmation </a:t>
            </a:r>
          </a:p>
          <a:p>
            <a:r>
              <a:rPr lang="en-US" dirty="0"/>
              <a:t>Limit switch detects box opening </a:t>
            </a:r>
          </a:p>
          <a:p>
            <a:r>
              <a:rPr lang="en-US" dirty="0"/>
              <a:t>Bluetooth sends data to mobile</a:t>
            </a:r>
          </a:p>
          <a:p>
            <a:pPr marL="0" indent="0">
              <a:buNone/>
            </a:pPr>
            <a:r>
              <a:rPr lang="en-US" b="1" dirty="0"/>
              <a:t>Prototype Features:</a:t>
            </a:r>
          </a:p>
          <a:p>
            <a:r>
              <a:rPr lang="en-US" dirty="0"/>
              <a:t>Manual medicine confirmation </a:t>
            </a:r>
          </a:p>
          <a:p>
            <a:r>
              <a:rPr lang="en-US" dirty="0"/>
              <a:t>Box opening detection </a:t>
            </a:r>
          </a:p>
          <a:p>
            <a:r>
              <a:rPr lang="en-US" dirty="0"/>
              <a:t>Real-time alerts </a:t>
            </a:r>
          </a:p>
          <a:p>
            <a:r>
              <a:rPr lang="en-US" dirty="0"/>
              <a:t>Medicine count update </a:t>
            </a:r>
          </a:p>
          <a:p>
            <a:r>
              <a:rPr lang="en-US" dirty="0"/>
              <a:t>Missed dose detection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2134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9E031-D0D9-2B64-3D29-06892FE54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B2504-B8A4-AE4F-3784-D514A8D09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400231" cy="1320800"/>
          </a:xfrm>
        </p:spPr>
        <p:txBody>
          <a:bodyPr>
            <a:normAutofit/>
          </a:bodyPr>
          <a:lstStyle/>
          <a:p>
            <a:r>
              <a:rPr lang="en-US" sz="4400" b="1" i="0" dirty="0">
                <a:solidFill>
                  <a:schemeClr val="accent2">
                    <a:lumMod val="75000"/>
                  </a:schemeClr>
                </a:solidFill>
                <a:effectLst/>
                <a:latin typeface="Bell MT" panose="02020503060305020303" pitchFamily="18" charset="0"/>
              </a:rPr>
              <a:t>Prototype</a:t>
            </a: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Bell MT" panose="02020503060305020303" pitchFamily="18" charset="0"/>
              </a:rPr>
              <a:t>: </a:t>
            </a:r>
            <a:endParaRPr lang="en-IN" dirty="0">
              <a:solidFill>
                <a:schemeClr val="accent2">
                  <a:lumMod val="75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63387-FE38-4238-1B91-835D7E96F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116" y="1495571"/>
            <a:ext cx="8596668" cy="469819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Expected Output:</a:t>
            </a:r>
          </a:p>
          <a:p>
            <a:r>
              <a:rPr lang="en-US" dirty="0"/>
              <a:t>Timely reminders </a:t>
            </a:r>
          </a:p>
          <a:p>
            <a:r>
              <a:rPr lang="en-US" dirty="0"/>
              <a:t>Reduced missed doses </a:t>
            </a:r>
          </a:p>
          <a:p>
            <a:r>
              <a:rPr lang="en-US" dirty="0"/>
              <a:t>Better patient care </a:t>
            </a:r>
          </a:p>
          <a:p>
            <a:r>
              <a:rPr lang="en-US" dirty="0"/>
              <a:t>Easy monitoring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dirty="0"/>
              <a:t>	“To solve the problem, we designed a low-cost smart medicine reminder system focusing on simplicity and ease of use. The system provides timely alerts, tracks medicine intake, and helps caregivers monitor the patient effectively.”</a:t>
            </a:r>
          </a:p>
          <a:p>
            <a:pPr marL="0" indent="0">
              <a:buNone/>
            </a:pP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386222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304D4ADBC4F04D88ECBFC068A8D9FC" ma:contentTypeVersion="3" ma:contentTypeDescription="Create a new document." ma:contentTypeScope="" ma:versionID="c448fdd5546f70c2d06ebc0145737241">
  <xsd:schema xmlns:xsd="http://www.w3.org/2001/XMLSchema" xmlns:xs="http://www.w3.org/2001/XMLSchema" xmlns:p="http://schemas.microsoft.com/office/2006/metadata/properties" xmlns:ns2="aa12c2b2-e206-417e-83e0-a25e39a5b55d" targetNamespace="http://schemas.microsoft.com/office/2006/metadata/properties" ma:root="true" ma:fieldsID="0882db562b9943d361c3b4af9744e02c" ns2:_="">
    <xsd:import namespace="aa12c2b2-e206-417e-83e0-a25e39a5b55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12c2b2-e206-417e-83e0-a25e39a5b5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891C03-E0F4-4E0A-9420-195B84203773}">
  <ds:schemaRefs>
    <ds:schemaRef ds:uri="http://schemas.microsoft.com/office/2006/metadata/properties"/>
    <ds:schemaRef ds:uri="http://purl.org/dc/terms/"/>
    <ds:schemaRef ds:uri="http://schemas.microsoft.com/office/infopath/2007/PartnerControls"/>
    <ds:schemaRef ds:uri="http://purl.org/dc/dcmitype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aa12c2b2-e206-417e-83e0-a25e39a5b55d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24B31FF-6BAB-4286-8EF3-1CAE2E5B6CFF}">
  <ds:schemaRefs>
    <ds:schemaRef ds:uri="aa12c2b2-e206-417e-83e0-a25e39a5b55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580196B-3071-4377-9116-309A5209CAD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</TotalTime>
  <Words>491</Words>
  <Application>Microsoft Office PowerPoint</Application>
  <PresentationFormat>Widescreen</PresentationFormat>
  <Paragraphs>114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Bell MT</vt:lpstr>
      <vt:lpstr>Courier New</vt:lpstr>
      <vt:lpstr>Trebuchet MS</vt:lpstr>
      <vt:lpstr>Wingdings</vt:lpstr>
      <vt:lpstr>Wingdings 3</vt:lpstr>
      <vt:lpstr>Facet</vt:lpstr>
      <vt:lpstr>Project presentation</vt:lpstr>
      <vt:lpstr>Empathize:</vt:lpstr>
      <vt:lpstr>Empathize:</vt:lpstr>
      <vt:lpstr>Define:</vt:lpstr>
      <vt:lpstr>Ideate:</vt:lpstr>
      <vt:lpstr>Prototype: </vt:lpstr>
      <vt:lpstr>Prototype: </vt:lpstr>
      <vt:lpstr>Prototype: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Nithy V J</dc:creator>
  <cp:lastModifiedBy>Nalini J</cp:lastModifiedBy>
  <cp:revision>44</cp:revision>
  <dcterms:created xsi:type="dcterms:W3CDTF">2024-12-03T03:26:34Z</dcterms:created>
  <dcterms:modified xsi:type="dcterms:W3CDTF">2026-04-08T07:12:30Z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0x010100C7304D4ADBC4F04D88ECBFC068A8D9FC</vt:lpwstr>
  </property>
</Properties>
</file>